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attanakarn Expanded" charset="1" panose="00000000000000000000"/>
      <p:regular r:id="rId19"/>
    </p:embeddedFont>
    <p:embeddedFont>
      <p:font typeface="Telegraf" charset="1" panose="00000500000000000000"/>
      <p:regular r:id="rId20"/>
    </p:embeddedFont>
    <p:embeddedFont>
      <p:font typeface="Telegraf Medium" charset="1" panose="00000600000000000000"/>
      <p:regular r:id="rId21"/>
    </p:embeddedFont>
    <p:embeddedFont>
      <p:font typeface="Glacial Indifference Italics" charset="1" panose="00000000000000000000"/>
      <p:regular r:id="rId22"/>
    </p:embeddedFont>
    <p:embeddedFont>
      <p:font typeface="Telegraf Bold" charset="1" panose="00000800000000000000"/>
      <p:regular r:id="rId23"/>
    </p:embeddedFont>
    <p:embeddedFont>
      <p:font typeface="Glacial Indifference" charset="1" panose="00000000000000000000"/>
      <p:regular r:id="rId24"/>
    </p:embeddedFont>
    <p:embeddedFont>
      <p:font typeface="Calibri (MS)" charset="1" panose="020F05020202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268" y="5536699"/>
            <a:ext cx="18288000" cy="5860835"/>
            <a:chOff x="0" y="0"/>
            <a:chExt cx="24384000" cy="7814446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7423" r="0" b="15602"/>
            <a:stretch>
              <a:fillRect/>
            </a:stretch>
          </p:blipFill>
          <p:spPr>
            <a:xfrm flipH="false" flipV="false">
              <a:off x="0" y="0"/>
              <a:ext cx="24384000" cy="7814446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16989734" y="832883"/>
            <a:ext cx="269566" cy="179598"/>
          </a:xfrm>
          <a:custGeom>
            <a:avLst/>
            <a:gdLst/>
            <a:ahLst/>
            <a:cxnLst/>
            <a:rect r="r" b="b" t="t" l="l"/>
            <a:pathLst>
              <a:path h="179598" w="269566">
                <a:moveTo>
                  <a:pt x="0" y="0"/>
                </a:moveTo>
                <a:lnTo>
                  <a:pt x="269566" y="0"/>
                </a:lnTo>
                <a:lnTo>
                  <a:pt x="269566" y="179598"/>
                </a:lnTo>
                <a:lnTo>
                  <a:pt x="0" y="179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5400000">
            <a:off x="7487480" y="-2507245"/>
            <a:ext cx="4119558" cy="18611732"/>
            <a:chOff x="0" y="0"/>
            <a:chExt cx="1084987" cy="49018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4987" cy="4901855"/>
            </a:xfrm>
            <a:custGeom>
              <a:avLst/>
              <a:gdLst/>
              <a:ahLst/>
              <a:cxnLst/>
              <a:rect r="r" b="b" t="t" l="l"/>
              <a:pathLst>
                <a:path h="4901855" w="1084987">
                  <a:moveTo>
                    <a:pt x="0" y="0"/>
                  </a:moveTo>
                  <a:lnTo>
                    <a:pt x="1084987" y="0"/>
                  </a:lnTo>
                  <a:lnTo>
                    <a:pt x="1084987" y="4901855"/>
                  </a:lnTo>
                  <a:lnTo>
                    <a:pt x="0" y="4901855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84987" cy="4959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21450" y="4738842"/>
            <a:ext cx="4547196" cy="797858"/>
            <a:chOff x="0" y="0"/>
            <a:chExt cx="1197615" cy="2101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7615" cy="210135"/>
            </a:xfrm>
            <a:custGeom>
              <a:avLst/>
              <a:gdLst/>
              <a:ahLst/>
              <a:cxnLst/>
              <a:rect r="r" b="b" t="t" l="l"/>
              <a:pathLst>
                <a:path h="210135" w="1197615">
                  <a:moveTo>
                    <a:pt x="105068" y="0"/>
                  </a:moveTo>
                  <a:lnTo>
                    <a:pt x="1092548" y="0"/>
                  </a:lnTo>
                  <a:cubicBezTo>
                    <a:pt x="1120413" y="0"/>
                    <a:pt x="1147138" y="11070"/>
                    <a:pt x="1166842" y="30774"/>
                  </a:cubicBezTo>
                  <a:cubicBezTo>
                    <a:pt x="1186546" y="50478"/>
                    <a:pt x="1197615" y="77202"/>
                    <a:pt x="1197615" y="105068"/>
                  </a:cubicBezTo>
                  <a:lnTo>
                    <a:pt x="1197615" y="105068"/>
                  </a:lnTo>
                  <a:cubicBezTo>
                    <a:pt x="1197615" y="163095"/>
                    <a:pt x="1150575" y="210135"/>
                    <a:pt x="1092548" y="210135"/>
                  </a:cubicBezTo>
                  <a:lnTo>
                    <a:pt x="105068" y="210135"/>
                  </a:lnTo>
                  <a:cubicBezTo>
                    <a:pt x="47040" y="210135"/>
                    <a:pt x="0" y="163095"/>
                    <a:pt x="0" y="105068"/>
                  </a:cubicBezTo>
                  <a:lnTo>
                    <a:pt x="0" y="105068"/>
                  </a:lnTo>
                  <a:cubicBezTo>
                    <a:pt x="0" y="47040"/>
                    <a:pt x="47040" y="0"/>
                    <a:pt x="105068" y="0"/>
                  </a:cubicBezTo>
                  <a:close/>
                </a:path>
              </a:pathLst>
            </a:custGeom>
            <a:ln w="9525" cap="rnd">
              <a:solidFill>
                <a:srgbClr val="FFD49B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97615" cy="267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854645" y="5191015"/>
            <a:ext cx="380120" cy="95030"/>
          </a:xfrm>
          <a:custGeom>
            <a:avLst/>
            <a:gdLst/>
            <a:ahLst/>
            <a:cxnLst/>
            <a:rect r="r" b="b" t="t" l="l"/>
            <a:pathLst>
              <a:path h="95030" w="380120">
                <a:moveTo>
                  <a:pt x="0" y="0"/>
                </a:moveTo>
                <a:lnTo>
                  <a:pt x="380120" y="0"/>
                </a:lnTo>
                <a:lnTo>
                  <a:pt x="380120" y="95030"/>
                </a:lnTo>
                <a:lnTo>
                  <a:pt x="0" y="950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12122" y="5143500"/>
            <a:ext cx="380120" cy="95030"/>
          </a:xfrm>
          <a:custGeom>
            <a:avLst/>
            <a:gdLst/>
            <a:ahLst/>
            <a:cxnLst/>
            <a:rect r="r" b="b" t="t" l="l"/>
            <a:pathLst>
              <a:path h="95030" w="380120">
                <a:moveTo>
                  <a:pt x="0" y="0"/>
                </a:moveTo>
                <a:lnTo>
                  <a:pt x="380120" y="0"/>
                </a:lnTo>
                <a:lnTo>
                  <a:pt x="380120" y="95030"/>
                </a:lnTo>
                <a:lnTo>
                  <a:pt x="0" y="950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963600" y="2983135"/>
            <a:ext cx="10423336" cy="175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54"/>
              </a:lnSpc>
              <a:spcBef>
                <a:spcPct val="0"/>
              </a:spcBef>
            </a:pPr>
            <a:r>
              <a:rPr lang="en-US" sz="10324">
                <a:solidFill>
                  <a:srgbClr val="FFD49B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NEX</a:t>
            </a:r>
            <a:r>
              <a:rPr lang="en-US" sz="10324">
                <a:solidFill>
                  <a:srgbClr val="FFD49B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TFLICK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34765" y="4776942"/>
            <a:ext cx="4917153" cy="68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spc="-94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 Linear Algebra Approach to Movie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9734" y="832883"/>
            <a:ext cx="269566" cy="179598"/>
          </a:xfrm>
          <a:custGeom>
            <a:avLst/>
            <a:gdLst/>
            <a:ahLst/>
            <a:cxnLst/>
            <a:rect r="r" b="b" t="t" l="l"/>
            <a:pathLst>
              <a:path h="179598" w="269566">
                <a:moveTo>
                  <a:pt x="0" y="0"/>
                </a:moveTo>
                <a:lnTo>
                  <a:pt x="269566" y="0"/>
                </a:lnTo>
                <a:lnTo>
                  <a:pt x="269566" y="179598"/>
                </a:lnTo>
                <a:lnTo>
                  <a:pt x="0" y="179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7499" y="8091848"/>
            <a:ext cx="16011801" cy="1404950"/>
            <a:chOff x="0" y="0"/>
            <a:chExt cx="4217100" cy="3700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17100" cy="370028"/>
            </a:xfrm>
            <a:custGeom>
              <a:avLst/>
              <a:gdLst/>
              <a:ahLst/>
              <a:cxnLst/>
              <a:rect r="r" b="b" t="t" l="l"/>
              <a:pathLst>
                <a:path h="370028" w="4217100">
                  <a:moveTo>
                    <a:pt x="24176" y="0"/>
                  </a:moveTo>
                  <a:lnTo>
                    <a:pt x="4192924" y="0"/>
                  </a:lnTo>
                  <a:cubicBezTo>
                    <a:pt x="4199336" y="0"/>
                    <a:pt x="4205485" y="2547"/>
                    <a:pt x="4210019" y="7081"/>
                  </a:cubicBezTo>
                  <a:cubicBezTo>
                    <a:pt x="4214553" y="11615"/>
                    <a:pt x="4217100" y="17764"/>
                    <a:pt x="4217100" y="24176"/>
                  </a:cubicBezTo>
                  <a:lnTo>
                    <a:pt x="4217100" y="345852"/>
                  </a:lnTo>
                  <a:cubicBezTo>
                    <a:pt x="4217100" y="352264"/>
                    <a:pt x="4214553" y="358413"/>
                    <a:pt x="4210019" y="362947"/>
                  </a:cubicBezTo>
                  <a:cubicBezTo>
                    <a:pt x="4205485" y="367481"/>
                    <a:pt x="4199336" y="370028"/>
                    <a:pt x="4192924" y="370028"/>
                  </a:cubicBezTo>
                  <a:lnTo>
                    <a:pt x="24176" y="370028"/>
                  </a:lnTo>
                  <a:cubicBezTo>
                    <a:pt x="17764" y="370028"/>
                    <a:pt x="11615" y="367481"/>
                    <a:pt x="7081" y="362947"/>
                  </a:cubicBezTo>
                  <a:cubicBezTo>
                    <a:pt x="2547" y="358413"/>
                    <a:pt x="0" y="352264"/>
                    <a:pt x="0" y="345852"/>
                  </a:cubicBezTo>
                  <a:lnTo>
                    <a:pt x="0" y="24176"/>
                  </a:lnTo>
                  <a:cubicBezTo>
                    <a:pt x="0" y="17764"/>
                    <a:pt x="2547" y="11615"/>
                    <a:pt x="7081" y="7081"/>
                  </a:cubicBezTo>
                  <a:cubicBezTo>
                    <a:pt x="11615" y="2547"/>
                    <a:pt x="17764" y="0"/>
                    <a:pt x="24176" y="0"/>
                  </a:cubicBezTo>
                  <a:close/>
                </a:path>
              </a:pathLst>
            </a:custGeom>
            <a:ln w="9525" cap="rnd">
              <a:solidFill>
                <a:srgbClr val="FFD49B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4217100" cy="446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219"/>
                </a:lnSpc>
              </a:pPr>
              <a:r>
                <a:rPr lang="en-US" sz="2299" spc="-114" b="true">
                  <a:solidFill>
                    <a:srgbClr val="FFD49B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    Our Central Question-</a:t>
              </a:r>
            </a:p>
            <a:p>
              <a:pPr algn="ctr">
                <a:lnSpc>
                  <a:spcPts val="3779"/>
                </a:lnSpc>
              </a:pPr>
              <a:r>
                <a:rPr lang="en-US" b="true" sz="2699" spc="-134">
                  <a:solidFill>
                    <a:srgbClr val="FFFFFF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Can linear algebra help us discover similar tastes and recommend unseen movies?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626828" y="9770853"/>
            <a:ext cx="380120" cy="95030"/>
          </a:xfrm>
          <a:custGeom>
            <a:avLst/>
            <a:gdLst/>
            <a:ahLst/>
            <a:cxnLst/>
            <a:rect r="r" b="b" t="t" l="l"/>
            <a:pathLst>
              <a:path h="95030" w="380120">
                <a:moveTo>
                  <a:pt x="0" y="0"/>
                </a:moveTo>
                <a:lnTo>
                  <a:pt x="380120" y="0"/>
                </a:lnTo>
                <a:lnTo>
                  <a:pt x="380120" y="95030"/>
                </a:lnTo>
                <a:lnTo>
                  <a:pt x="0" y="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2361" y="1448896"/>
            <a:ext cx="632677" cy="632677"/>
          </a:xfrm>
          <a:custGeom>
            <a:avLst/>
            <a:gdLst/>
            <a:ahLst/>
            <a:cxnLst/>
            <a:rect r="r" b="b" t="t" l="l"/>
            <a:pathLst>
              <a:path h="632677" w="632677">
                <a:moveTo>
                  <a:pt x="0" y="0"/>
                </a:moveTo>
                <a:lnTo>
                  <a:pt x="632678" y="0"/>
                </a:lnTo>
                <a:lnTo>
                  <a:pt x="632678" y="632677"/>
                </a:lnTo>
                <a:lnTo>
                  <a:pt x="0" y="6326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5144" y="3968599"/>
            <a:ext cx="11894200" cy="3440569"/>
          </a:xfrm>
          <a:custGeom>
            <a:avLst/>
            <a:gdLst/>
            <a:ahLst/>
            <a:cxnLst/>
            <a:rect r="r" b="b" t="t" l="l"/>
            <a:pathLst>
              <a:path h="3440569" w="11894200">
                <a:moveTo>
                  <a:pt x="0" y="0"/>
                </a:moveTo>
                <a:lnTo>
                  <a:pt x="11894201" y="0"/>
                </a:lnTo>
                <a:lnTo>
                  <a:pt x="11894201" y="3440569"/>
                </a:lnTo>
                <a:lnTo>
                  <a:pt x="0" y="34405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75144" y="3110273"/>
            <a:ext cx="10769189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i="true" spc="-84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Millions of possible preferences. Thousands of movies. How can we identify meaningful similarities from rating data?</a:t>
            </a:r>
          </a:p>
          <a:p>
            <a:pPr algn="l">
              <a:lnSpc>
                <a:spcPts val="1680"/>
              </a:lnSpc>
            </a:pPr>
          </a:p>
          <a:p>
            <a:pPr algn="l">
              <a:lnSpc>
                <a:spcPts val="168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75144" y="1555684"/>
            <a:ext cx="336565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2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 PROBLEM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5144" y="2043473"/>
            <a:ext cx="4969431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149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Every user has a taste.</a:t>
            </a:r>
          </a:p>
          <a:p>
            <a:pPr algn="l">
              <a:lnSpc>
                <a:spcPts val="35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575144" y="2587474"/>
            <a:ext cx="6702549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149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How do we find users who think alike?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89734" y="832883"/>
            <a:ext cx="269566" cy="179598"/>
          </a:xfrm>
          <a:custGeom>
            <a:avLst/>
            <a:gdLst/>
            <a:ahLst/>
            <a:cxnLst/>
            <a:rect r="r" b="b" t="t" l="l"/>
            <a:pathLst>
              <a:path h="179598" w="269566">
                <a:moveTo>
                  <a:pt x="0" y="0"/>
                </a:moveTo>
                <a:lnTo>
                  <a:pt x="269566" y="0"/>
                </a:lnTo>
                <a:lnTo>
                  <a:pt x="269566" y="179598"/>
                </a:lnTo>
                <a:lnTo>
                  <a:pt x="0" y="179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2361" y="1448896"/>
            <a:ext cx="632677" cy="632677"/>
          </a:xfrm>
          <a:custGeom>
            <a:avLst/>
            <a:gdLst/>
            <a:ahLst/>
            <a:cxnLst/>
            <a:rect r="r" b="b" t="t" l="l"/>
            <a:pathLst>
              <a:path h="632677" w="632677">
                <a:moveTo>
                  <a:pt x="0" y="0"/>
                </a:moveTo>
                <a:lnTo>
                  <a:pt x="632678" y="0"/>
                </a:lnTo>
                <a:lnTo>
                  <a:pt x="632678" y="632677"/>
                </a:lnTo>
                <a:lnTo>
                  <a:pt x="0" y="632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9896" y="2805473"/>
            <a:ext cx="5213288" cy="1584433"/>
          </a:xfrm>
          <a:custGeom>
            <a:avLst/>
            <a:gdLst/>
            <a:ahLst/>
            <a:cxnLst/>
            <a:rect r="r" b="b" t="t" l="l"/>
            <a:pathLst>
              <a:path h="1584433" w="5213288">
                <a:moveTo>
                  <a:pt x="0" y="0"/>
                </a:moveTo>
                <a:lnTo>
                  <a:pt x="5213287" y="0"/>
                </a:lnTo>
                <a:lnTo>
                  <a:pt x="5213287" y="1584434"/>
                </a:lnTo>
                <a:lnTo>
                  <a:pt x="0" y="1584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786" b="-9996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9896" y="4523257"/>
            <a:ext cx="5349643" cy="1533277"/>
          </a:xfrm>
          <a:custGeom>
            <a:avLst/>
            <a:gdLst/>
            <a:ahLst/>
            <a:cxnLst/>
            <a:rect r="r" b="b" t="t" l="l"/>
            <a:pathLst>
              <a:path h="1533277" w="5349643">
                <a:moveTo>
                  <a:pt x="0" y="0"/>
                </a:moveTo>
                <a:lnTo>
                  <a:pt x="5349642" y="0"/>
                </a:lnTo>
                <a:lnTo>
                  <a:pt x="5349642" y="1533277"/>
                </a:lnTo>
                <a:lnTo>
                  <a:pt x="0" y="15332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55" t="-5861" r="-927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9896" y="6189884"/>
            <a:ext cx="5353090" cy="1521278"/>
          </a:xfrm>
          <a:custGeom>
            <a:avLst/>
            <a:gdLst/>
            <a:ahLst/>
            <a:cxnLst/>
            <a:rect r="r" b="b" t="t" l="l"/>
            <a:pathLst>
              <a:path h="1521278" w="5353090">
                <a:moveTo>
                  <a:pt x="0" y="0"/>
                </a:moveTo>
                <a:lnTo>
                  <a:pt x="5353090" y="0"/>
                </a:lnTo>
                <a:lnTo>
                  <a:pt x="5353090" y="1521278"/>
                </a:lnTo>
                <a:lnTo>
                  <a:pt x="0" y="15212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276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9896" y="7844512"/>
            <a:ext cx="5480715" cy="1481909"/>
          </a:xfrm>
          <a:custGeom>
            <a:avLst/>
            <a:gdLst/>
            <a:ahLst/>
            <a:cxnLst/>
            <a:rect r="r" b="b" t="t" l="l"/>
            <a:pathLst>
              <a:path h="1481909" w="5480715">
                <a:moveTo>
                  <a:pt x="0" y="0"/>
                </a:moveTo>
                <a:lnTo>
                  <a:pt x="5480715" y="0"/>
                </a:lnTo>
                <a:lnTo>
                  <a:pt x="5480715" y="1481909"/>
                </a:lnTo>
                <a:lnTo>
                  <a:pt x="0" y="14819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98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70154" y="3373587"/>
            <a:ext cx="10181939" cy="5211880"/>
          </a:xfrm>
          <a:custGeom>
            <a:avLst/>
            <a:gdLst/>
            <a:ahLst/>
            <a:cxnLst/>
            <a:rect r="r" b="b" t="t" l="l"/>
            <a:pathLst>
              <a:path h="5211880" w="10181939">
                <a:moveTo>
                  <a:pt x="0" y="0"/>
                </a:moveTo>
                <a:lnTo>
                  <a:pt x="10181939" y="0"/>
                </a:lnTo>
                <a:lnTo>
                  <a:pt x="10181939" y="5211880"/>
                </a:lnTo>
                <a:lnTo>
                  <a:pt x="0" y="52118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75144" y="2043473"/>
            <a:ext cx="864434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sz="2699" spc="-13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From user preferences to personalized recommendations.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9896" y="2491148"/>
            <a:ext cx="1067122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i="true" spc="-70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NextFlick applies linear algebra to movie-rating data to identify similar users and estimate ratings for unseen movies.</a:t>
            </a:r>
          </a:p>
          <a:p>
            <a:pPr algn="l">
              <a:lnSpc>
                <a:spcPts val="1680"/>
              </a:lnSpc>
            </a:pPr>
          </a:p>
          <a:p>
            <a:pPr algn="l">
              <a:lnSpc>
                <a:spcPts val="16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75144" y="1555684"/>
            <a:ext cx="336565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2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Introducing NextFlick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2361" y="1448896"/>
            <a:ext cx="632677" cy="632677"/>
          </a:xfrm>
          <a:custGeom>
            <a:avLst/>
            <a:gdLst/>
            <a:ahLst/>
            <a:cxnLst/>
            <a:rect r="r" b="b" t="t" l="l"/>
            <a:pathLst>
              <a:path h="632677" w="632677">
                <a:moveTo>
                  <a:pt x="0" y="0"/>
                </a:moveTo>
                <a:lnTo>
                  <a:pt x="632678" y="0"/>
                </a:lnTo>
                <a:lnTo>
                  <a:pt x="632678" y="632677"/>
                </a:lnTo>
                <a:lnTo>
                  <a:pt x="0" y="632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5144" y="3209310"/>
            <a:ext cx="7185262" cy="1497779"/>
          </a:xfrm>
          <a:custGeom>
            <a:avLst/>
            <a:gdLst/>
            <a:ahLst/>
            <a:cxnLst/>
            <a:rect r="r" b="b" t="t" l="l"/>
            <a:pathLst>
              <a:path h="1497779" w="7185262">
                <a:moveTo>
                  <a:pt x="0" y="0"/>
                </a:moveTo>
                <a:lnTo>
                  <a:pt x="7185263" y="0"/>
                </a:lnTo>
                <a:lnTo>
                  <a:pt x="7185263" y="1497780"/>
                </a:lnTo>
                <a:lnTo>
                  <a:pt x="0" y="1497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4097" b="-2814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5144" y="5056757"/>
            <a:ext cx="7177217" cy="1355769"/>
          </a:xfrm>
          <a:custGeom>
            <a:avLst/>
            <a:gdLst/>
            <a:ahLst/>
            <a:cxnLst/>
            <a:rect r="r" b="b" t="t" l="l"/>
            <a:pathLst>
              <a:path h="1355769" w="7177217">
                <a:moveTo>
                  <a:pt x="0" y="0"/>
                </a:moveTo>
                <a:lnTo>
                  <a:pt x="7177218" y="0"/>
                </a:lnTo>
                <a:lnTo>
                  <a:pt x="7177218" y="1355769"/>
                </a:lnTo>
                <a:lnTo>
                  <a:pt x="0" y="135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7360" b="-2924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5144" y="6831976"/>
            <a:ext cx="7149456" cy="1468335"/>
          </a:xfrm>
          <a:custGeom>
            <a:avLst/>
            <a:gdLst/>
            <a:ahLst/>
            <a:cxnLst/>
            <a:rect r="r" b="b" t="t" l="l"/>
            <a:pathLst>
              <a:path h="1468335" w="7149456">
                <a:moveTo>
                  <a:pt x="0" y="0"/>
                </a:moveTo>
                <a:lnTo>
                  <a:pt x="7149456" y="0"/>
                </a:lnTo>
                <a:lnTo>
                  <a:pt x="7149456" y="1468334"/>
                </a:lnTo>
                <a:lnTo>
                  <a:pt x="0" y="14683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1586" b="-2944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3790335"/>
            <a:ext cx="8815176" cy="3614222"/>
          </a:xfrm>
          <a:custGeom>
            <a:avLst/>
            <a:gdLst/>
            <a:ahLst/>
            <a:cxnLst/>
            <a:rect r="r" b="b" t="t" l="l"/>
            <a:pathLst>
              <a:path h="3614222" w="8815176">
                <a:moveTo>
                  <a:pt x="0" y="0"/>
                </a:moveTo>
                <a:lnTo>
                  <a:pt x="8815176" y="0"/>
                </a:lnTo>
                <a:lnTo>
                  <a:pt x="8815176" y="3614223"/>
                </a:lnTo>
                <a:lnTo>
                  <a:pt x="0" y="36142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5144" y="1555684"/>
            <a:ext cx="828924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2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 Mathematics Behind NextFlick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5144" y="2043473"/>
            <a:ext cx="864434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spc="-13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699" spc="-13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urning preferences into vectors.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5144" y="2523510"/>
            <a:ext cx="1067122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i="true" spc="-84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Every user's movie ratings form a numerical representation of their preferences.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2361" y="1448896"/>
            <a:ext cx="632677" cy="632677"/>
          </a:xfrm>
          <a:custGeom>
            <a:avLst/>
            <a:gdLst/>
            <a:ahLst/>
            <a:cxnLst/>
            <a:rect r="r" b="b" t="t" l="l"/>
            <a:pathLst>
              <a:path h="632677" w="632677">
                <a:moveTo>
                  <a:pt x="0" y="0"/>
                </a:moveTo>
                <a:lnTo>
                  <a:pt x="632678" y="0"/>
                </a:lnTo>
                <a:lnTo>
                  <a:pt x="632678" y="632677"/>
                </a:lnTo>
                <a:lnTo>
                  <a:pt x="0" y="632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5144" y="3142635"/>
            <a:ext cx="11843890" cy="4067962"/>
          </a:xfrm>
          <a:custGeom>
            <a:avLst/>
            <a:gdLst/>
            <a:ahLst/>
            <a:cxnLst/>
            <a:rect r="r" b="b" t="t" l="l"/>
            <a:pathLst>
              <a:path h="4067962" w="11843890">
                <a:moveTo>
                  <a:pt x="0" y="0"/>
                </a:moveTo>
                <a:lnTo>
                  <a:pt x="11843891" y="0"/>
                </a:lnTo>
                <a:lnTo>
                  <a:pt x="11843891" y="4067963"/>
                </a:lnTo>
                <a:lnTo>
                  <a:pt x="0" y="4067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11420" y="7610648"/>
            <a:ext cx="11956545" cy="1985019"/>
          </a:xfrm>
          <a:custGeom>
            <a:avLst/>
            <a:gdLst/>
            <a:ahLst/>
            <a:cxnLst/>
            <a:rect r="r" b="b" t="t" l="l"/>
            <a:pathLst>
              <a:path h="1985019" w="11956545">
                <a:moveTo>
                  <a:pt x="0" y="0"/>
                </a:moveTo>
                <a:lnTo>
                  <a:pt x="11956544" y="0"/>
                </a:lnTo>
                <a:lnTo>
                  <a:pt x="11956544" y="1985018"/>
                </a:lnTo>
                <a:lnTo>
                  <a:pt x="0" y="19850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5144" y="1555684"/>
            <a:ext cx="828924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2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Finding Similar Users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5144" y="2043473"/>
            <a:ext cx="864434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spc="-13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699" spc="-13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imilar tastes. Measurable mathematically.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5144" y="2523510"/>
            <a:ext cx="1067122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i="true" spc="-84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NextFlick compares users using their mean-centred ratings for movies they have both rated.</a:t>
            </a:r>
          </a:p>
          <a:p>
            <a:pPr algn="l">
              <a:lnSpc>
                <a:spcPts val="18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2361" y="1448896"/>
            <a:ext cx="632677" cy="632677"/>
          </a:xfrm>
          <a:custGeom>
            <a:avLst/>
            <a:gdLst/>
            <a:ahLst/>
            <a:cxnLst/>
            <a:rect r="r" b="b" t="t" l="l"/>
            <a:pathLst>
              <a:path h="632677" w="632677">
                <a:moveTo>
                  <a:pt x="0" y="0"/>
                </a:moveTo>
                <a:lnTo>
                  <a:pt x="632678" y="0"/>
                </a:lnTo>
                <a:lnTo>
                  <a:pt x="632678" y="632677"/>
                </a:lnTo>
                <a:lnTo>
                  <a:pt x="0" y="632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01978" y="2160936"/>
            <a:ext cx="6958716" cy="7318207"/>
          </a:xfrm>
          <a:custGeom>
            <a:avLst/>
            <a:gdLst/>
            <a:ahLst/>
            <a:cxnLst/>
            <a:rect r="r" b="b" t="t" l="l"/>
            <a:pathLst>
              <a:path h="7318207" w="6958716">
                <a:moveTo>
                  <a:pt x="0" y="0"/>
                </a:moveTo>
                <a:lnTo>
                  <a:pt x="6958716" y="0"/>
                </a:lnTo>
                <a:lnTo>
                  <a:pt x="6958716" y="7318207"/>
                </a:lnTo>
                <a:lnTo>
                  <a:pt x="0" y="7318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75144" y="1555684"/>
            <a:ext cx="828924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2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Finding Similar Users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2361" y="1448896"/>
            <a:ext cx="632677" cy="632677"/>
          </a:xfrm>
          <a:custGeom>
            <a:avLst/>
            <a:gdLst/>
            <a:ahLst/>
            <a:cxnLst/>
            <a:rect r="r" b="b" t="t" l="l"/>
            <a:pathLst>
              <a:path h="632677" w="632677">
                <a:moveTo>
                  <a:pt x="0" y="0"/>
                </a:moveTo>
                <a:lnTo>
                  <a:pt x="632678" y="0"/>
                </a:lnTo>
                <a:lnTo>
                  <a:pt x="632678" y="632677"/>
                </a:lnTo>
                <a:lnTo>
                  <a:pt x="0" y="632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8828" y="3266460"/>
            <a:ext cx="5690525" cy="1832421"/>
          </a:xfrm>
          <a:custGeom>
            <a:avLst/>
            <a:gdLst/>
            <a:ahLst/>
            <a:cxnLst/>
            <a:rect r="r" b="b" t="t" l="l"/>
            <a:pathLst>
              <a:path h="1832421" w="5690525">
                <a:moveTo>
                  <a:pt x="0" y="0"/>
                </a:moveTo>
                <a:lnTo>
                  <a:pt x="5690525" y="0"/>
                </a:lnTo>
                <a:lnTo>
                  <a:pt x="5690525" y="1832421"/>
                </a:lnTo>
                <a:lnTo>
                  <a:pt x="0" y="18324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8828" y="5498931"/>
            <a:ext cx="12117010" cy="4169895"/>
          </a:xfrm>
          <a:custGeom>
            <a:avLst/>
            <a:gdLst/>
            <a:ahLst/>
            <a:cxnLst/>
            <a:rect r="r" b="b" t="t" l="l"/>
            <a:pathLst>
              <a:path h="4169895" w="12117010">
                <a:moveTo>
                  <a:pt x="0" y="0"/>
                </a:moveTo>
                <a:lnTo>
                  <a:pt x="12117010" y="0"/>
                </a:lnTo>
                <a:lnTo>
                  <a:pt x="12117010" y="4169895"/>
                </a:lnTo>
                <a:lnTo>
                  <a:pt x="0" y="41698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217" r="0" b="-455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5144" y="1555684"/>
            <a:ext cx="828924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2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From Similarity to Recommendations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75144" y="2043473"/>
            <a:ext cx="8644344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spc="-13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You</a:t>
            </a:r>
            <a:r>
              <a:rPr lang="en-US" sz="2699" spc="-13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r taste. Your next watch.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75144" y="2523510"/>
            <a:ext cx="1067122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 i="true" spc="-84">
                <a:solidFill>
                  <a:srgbClr val="FFFFFF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NextFlick combines collaborative filtering with a genre-based least-squares model to generate ranked movie recommendations.</a:t>
            </a:r>
          </a:p>
          <a:p>
            <a:pPr algn="l">
              <a:lnSpc>
                <a:spcPts val="2039"/>
              </a:lnSpc>
            </a:pPr>
          </a:p>
          <a:p>
            <a:pPr algn="l">
              <a:lnSpc>
                <a:spcPts val="18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2361" y="1448896"/>
            <a:ext cx="632677" cy="632677"/>
          </a:xfrm>
          <a:custGeom>
            <a:avLst/>
            <a:gdLst/>
            <a:ahLst/>
            <a:cxnLst/>
            <a:rect r="r" b="b" t="t" l="l"/>
            <a:pathLst>
              <a:path h="632677" w="632677">
                <a:moveTo>
                  <a:pt x="0" y="0"/>
                </a:moveTo>
                <a:lnTo>
                  <a:pt x="632678" y="0"/>
                </a:lnTo>
                <a:lnTo>
                  <a:pt x="632678" y="632677"/>
                </a:lnTo>
                <a:lnTo>
                  <a:pt x="0" y="632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2361" y="2891198"/>
            <a:ext cx="5546324" cy="6700794"/>
            <a:chOff x="0" y="0"/>
            <a:chExt cx="1460760" cy="17648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0760" cy="1764818"/>
            </a:xfrm>
            <a:custGeom>
              <a:avLst/>
              <a:gdLst/>
              <a:ahLst/>
              <a:cxnLst/>
              <a:rect r="r" b="b" t="t" l="l"/>
              <a:pathLst>
                <a:path h="1764818" w="1460760">
                  <a:moveTo>
                    <a:pt x="69793" y="0"/>
                  </a:moveTo>
                  <a:lnTo>
                    <a:pt x="1390967" y="0"/>
                  </a:lnTo>
                  <a:cubicBezTo>
                    <a:pt x="1429513" y="0"/>
                    <a:pt x="1460760" y="31248"/>
                    <a:pt x="1460760" y="69793"/>
                  </a:cubicBezTo>
                  <a:lnTo>
                    <a:pt x="1460760" y="1695025"/>
                  </a:lnTo>
                  <a:cubicBezTo>
                    <a:pt x="1460760" y="1713535"/>
                    <a:pt x="1453407" y="1731287"/>
                    <a:pt x="1440318" y="1744376"/>
                  </a:cubicBezTo>
                  <a:cubicBezTo>
                    <a:pt x="1427230" y="1757465"/>
                    <a:pt x="1409477" y="1764818"/>
                    <a:pt x="1390967" y="1764818"/>
                  </a:cubicBezTo>
                  <a:lnTo>
                    <a:pt x="69793" y="1764818"/>
                  </a:lnTo>
                  <a:cubicBezTo>
                    <a:pt x="51283" y="1764818"/>
                    <a:pt x="33531" y="1757465"/>
                    <a:pt x="20442" y="1744376"/>
                  </a:cubicBezTo>
                  <a:cubicBezTo>
                    <a:pt x="7353" y="1731287"/>
                    <a:pt x="0" y="1713535"/>
                    <a:pt x="0" y="1695025"/>
                  </a:cubicBezTo>
                  <a:lnTo>
                    <a:pt x="0" y="69793"/>
                  </a:lnTo>
                  <a:cubicBezTo>
                    <a:pt x="0" y="51283"/>
                    <a:pt x="7353" y="33531"/>
                    <a:pt x="20442" y="20442"/>
                  </a:cubicBezTo>
                  <a:cubicBezTo>
                    <a:pt x="33531" y="7353"/>
                    <a:pt x="51283" y="0"/>
                    <a:pt x="69793" y="0"/>
                  </a:cubicBezTo>
                  <a:close/>
                </a:path>
              </a:pathLst>
            </a:custGeom>
            <a:ln w="19050" cap="rnd">
              <a:solidFill>
                <a:srgbClr val="FFD49B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85725"/>
              <a:ext cx="1460760" cy="1850543"/>
            </a:xfrm>
            <a:prstGeom prst="rect">
              <a:avLst/>
            </a:prstGeom>
          </p:spPr>
          <p:txBody>
            <a:bodyPr anchor="ctr" rtlCol="false" tIns="342900" lIns="342900" bIns="342900" rIns="342900"/>
            <a:lstStyle/>
            <a:p>
              <a:pPr algn="l">
                <a:lnSpc>
                  <a:spcPts val="3779"/>
                </a:lnSpc>
              </a:pPr>
              <a:r>
                <a:rPr lang="en-US" sz="2699" spc="-134" b="true">
                  <a:solidFill>
                    <a:srgbClr val="FFFFFF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 MAE — Average absolute difference      between predicted and actual ratings.</a:t>
              </a:r>
            </a:p>
            <a:p>
              <a:pPr algn="l">
                <a:lnSpc>
                  <a:spcPts val="3779"/>
                </a:lnSpc>
              </a:pPr>
            </a:p>
            <a:p>
              <a:pPr algn="l">
                <a:lnSpc>
                  <a:spcPts val="3779"/>
                </a:lnSpc>
              </a:pPr>
              <a:r>
                <a:rPr lang="en-US" sz="2699" spc="-134" b="true">
                  <a:solidFill>
                    <a:srgbClr val="FFFFFF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RMSE — Penalizes larger prediction errors more heavily.</a:t>
              </a:r>
            </a:p>
            <a:p>
              <a:pPr algn="l">
                <a:lnSpc>
                  <a:spcPts val="3779"/>
                </a:lnSpc>
              </a:pPr>
            </a:p>
            <a:p>
              <a:pPr algn="l">
                <a:lnSpc>
                  <a:spcPts val="3779"/>
                </a:lnSpc>
              </a:pPr>
              <a:r>
                <a:rPr lang="en-US" sz="2699" spc="-134" b="true">
                  <a:solidFill>
                    <a:srgbClr val="FFFFFF"/>
                  </a:solidFill>
                  <a:latin typeface="Telegraf Medium"/>
                  <a:ea typeface="Telegraf Medium"/>
                  <a:cs typeface="Telegraf Medium"/>
                  <a:sym typeface="Telegraf Medium"/>
                </a:rPr>
                <a:t>Baseline — A reference score to judge whether our model improves prediction.</a:t>
              </a:r>
            </a:p>
            <a:p>
              <a:pPr algn="l">
                <a:lnSpc>
                  <a:spcPts val="37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219353" y="3043598"/>
            <a:ext cx="9219476" cy="5328646"/>
          </a:xfrm>
          <a:custGeom>
            <a:avLst/>
            <a:gdLst/>
            <a:ahLst/>
            <a:cxnLst/>
            <a:rect r="r" b="b" t="t" l="l"/>
            <a:pathLst>
              <a:path h="5328646" w="9219476">
                <a:moveTo>
                  <a:pt x="0" y="0"/>
                </a:moveTo>
                <a:lnTo>
                  <a:pt x="9219476" y="0"/>
                </a:lnTo>
                <a:lnTo>
                  <a:pt x="9219476" y="5328646"/>
                </a:lnTo>
                <a:lnTo>
                  <a:pt x="0" y="5328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521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5144" y="1555684"/>
            <a:ext cx="828924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2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How accurate are the recommendations?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5144" y="2043473"/>
            <a:ext cx="864434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spc="-13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HOW</a:t>
            </a:r>
            <a:r>
              <a:rPr lang="en-US" sz="2699" spc="-13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 WELL DOES IT PREDICT?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2361" y="1448896"/>
            <a:ext cx="632677" cy="632677"/>
          </a:xfrm>
          <a:custGeom>
            <a:avLst/>
            <a:gdLst/>
            <a:ahLst/>
            <a:cxnLst/>
            <a:rect r="r" b="b" t="t" l="l"/>
            <a:pathLst>
              <a:path h="632677" w="632677">
                <a:moveTo>
                  <a:pt x="0" y="0"/>
                </a:moveTo>
                <a:lnTo>
                  <a:pt x="632678" y="0"/>
                </a:lnTo>
                <a:lnTo>
                  <a:pt x="632678" y="632677"/>
                </a:lnTo>
                <a:lnTo>
                  <a:pt x="0" y="632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891198"/>
            <a:ext cx="5154187" cy="2295147"/>
          </a:xfrm>
          <a:custGeom>
            <a:avLst/>
            <a:gdLst/>
            <a:ahLst/>
            <a:cxnLst/>
            <a:rect r="r" b="b" t="t" l="l"/>
            <a:pathLst>
              <a:path h="2295147" w="5154187">
                <a:moveTo>
                  <a:pt x="0" y="0"/>
                </a:moveTo>
                <a:lnTo>
                  <a:pt x="5154187" y="0"/>
                </a:lnTo>
                <a:lnTo>
                  <a:pt x="5154187" y="2295147"/>
                </a:lnTo>
                <a:lnTo>
                  <a:pt x="0" y="2295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5453045"/>
            <a:ext cx="8658364" cy="3922098"/>
          </a:xfrm>
          <a:custGeom>
            <a:avLst/>
            <a:gdLst/>
            <a:ahLst/>
            <a:cxnLst/>
            <a:rect r="r" b="b" t="t" l="l"/>
            <a:pathLst>
              <a:path h="3922098" w="8658364">
                <a:moveTo>
                  <a:pt x="0" y="0"/>
                </a:moveTo>
                <a:lnTo>
                  <a:pt x="8658364" y="0"/>
                </a:lnTo>
                <a:lnTo>
                  <a:pt x="8658364" y="3922098"/>
                </a:lnTo>
                <a:lnTo>
                  <a:pt x="0" y="39220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54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54271" y="2891198"/>
            <a:ext cx="6905029" cy="7101543"/>
          </a:xfrm>
          <a:custGeom>
            <a:avLst/>
            <a:gdLst/>
            <a:ahLst/>
            <a:cxnLst/>
            <a:rect r="r" b="b" t="t" l="l"/>
            <a:pathLst>
              <a:path h="7101543" w="6905029">
                <a:moveTo>
                  <a:pt x="0" y="0"/>
                </a:moveTo>
                <a:lnTo>
                  <a:pt x="6905029" y="0"/>
                </a:lnTo>
                <a:lnTo>
                  <a:pt x="6905029" y="7101544"/>
                </a:lnTo>
                <a:lnTo>
                  <a:pt x="0" y="71015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24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75144" y="1555684"/>
            <a:ext cx="828924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2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Reducing Dimensions, Preserving Information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75144" y="2043473"/>
            <a:ext cx="8644344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spc="-13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TH</a:t>
            </a:r>
            <a:r>
              <a:rPr lang="en-US" sz="2699" spc="-13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E KEY RESULTS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2361" y="1448896"/>
            <a:ext cx="632677" cy="632677"/>
          </a:xfrm>
          <a:custGeom>
            <a:avLst/>
            <a:gdLst/>
            <a:ahLst/>
            <a:cxnLst/>
            <a:rect r="r" b="b" t="t" l="l"/>
            <a:pathLst>
              <a:path h="632677" w="632677">
                <a:moveTo>
                  <a:pt x="0" y="0"/>
                </a:moveTo>
                <a:lnTo>
                  <a:pt x="632678" y="0"/>
                </a:lnTo>
                <a:lnTo>
                  <a:pt x="632678" y="632677"/>
                </a:lnTo>
                <a:lnTo>
                  <a:pt x="0" y="632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5144" y="2695936"/>
            <a:ext cx="7755748" cy="1495048"/>
          </a:xfrm>
          <a:custGeom>
            <a:avLst/>
            <a:gdLst/>
            <a:ahLst/>
            <a:cxnLst/>
            <a:rect r="r" b="b" t="t" l="l"/>
            <a:pathLst>
              <a:path h="1495048" w="7755748">
                <a:moveTo>
                  <a:pt x="0" y="0"/>
                </a:moveTo>
                <a:lnTo>
                  <a:pt x="7755749" y="0"/>
                </a:lnTo>
                <a:lnTo>
                  <a:pt x="7755749" y="1495048"/>
                </a:lnTo>
                <a:lnTo>
                  <a:pt x="0" y="14950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6411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5144" y="4563362"/>
            <a:ext cx="4747424" cy="2194106"/>
          </a:xfrm>
          <a:custGeom>
            <a:avLst/>
            <a:gdLst/>
            <a:ahLst/>
            <a:cxnLst/>
            <a:rect r="r" b="b" t="t" l="l"/>
            <a:pathLst>
              <a:path h="2194106" w="4747424">
                <a:moveTo>
                  <a:pt x="0" y="0"/>
                </a:moveTo>
                <a:lnTo>
                  <a:pt x="4747425" y="0"/>
                </a:lnTo>
                <a:lnTo>
                  <a:pt x="4747425" y="2194107"/>
                </a:lnTo>
                <a:lnTo>
                  <a:pt x="0" y="21941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5144" y="7128944"/>
            <a:ext cx="4533124" cy="2067253"/>
          </a:xfrm>
          <a:custGeom>
            <a:avLst/>
            <a:gdLst/>
            <a:ahLst/>
            <a:cxnLst/>
            <a:rect r="r" b="b" t="t" l="l"/>
            <a:pathLst>
              <a:path h="2067253" w="4533124">
                <a:moveTo>
                  <a:pt x="0" y="0"/>
                </a:moveTo>
                <a:lnTo>
                  <a:pt x="4533125" y="0"/>
                </a:lnTo>
                <a:lnTo>
                  <a:pt x="4533125" y="2067252"/>
                </a:lnTo>
                <a:lnTo>
                  <a:pt x="0" y="20672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41314" y="2695936"/>
            <a:ext cx="6917986" cy="1992061"/>
          </a:xfrm>
          <a:custGeom>
            <a:avLst/>
            <a:gdLst/>
            <a:ahLst/>
            <a:cxnLst/>
            <a:rect r="r" b="b" t="t" l="l"/>
            <a:pathLst>
              <a:path h="1992061" w="6917986">
                <a:moveTo>
                  <a:pt x="0" y="0"/>
                </a:moveTo>
                <a:lnTo>
                  <a:pt x="6917986" y="0"/>
                </a:lnTo>
                <a:lnTo>
                  <a:pt x="6917986" y="1992060"/>
                </a:lnTo>
                <a:lnTo>
                  <a:pt x="0" y="19920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69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17248" y="4821346"/>
            <a:ext cx="7342052" cy="4374850"/>
          </a:xfrm>
          <a:custGeom>
            <a:avLst/>
            <a:gdLst/>
            <a:ahLst/>
            <a:cxnLst/>
            <a:rect r="r" b="b" t="t" l="l"/>
            <a:pathLst>
              <a:path h="4374850" w="7342052">
                <a:moveTo>
                  <a:pt x="0" y="0"/>
                </a:moveTo>
                <a:lnTo>
                  <a:pt x="7342052" y="0"/>
                </a:lnTo>
                <a:lnTo>
                  <a:pt x="7342052" y="4374850"/>
                </a:lnTo>
                <a:lnTo>
                  <a:pt x="0" y="43748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75144" y="1555684"/>
            <a:ext cx="828924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2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Least Squares &amp; Prediction Error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5144" y="2043473"/>
            <a:ext cx="8644344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spc="-13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MINIMIZING TH</a:t>
            </a:r>
            <a:r>
              <a:rPr lang="en-US" sz="2699" spc="-13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E ERROR</a:t>
            </a:r>
          </a:p>
          <a:p>
            <a:pPr algn="l">
              <a:lnSpc>
                <a:spcPts val="3239"/>
              </a:lnSpc>
            </a:pP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2361" y="1448896"/>
            <a:ext cx="632677" cy="632677"/>
          </a:xfrm>
          <a:custGeom>
            <a:avLst/>
            <a:gdLst/>
            <a:ahLst/>
            <a:cxnLst/>
            <a:rect r="r" b="b" t="t" l="l"/>
            <a:pathLst>
              <a:path h="632677" w="632677">
                <a:moveTo>
                  <a:pt x="0" y="0"/>
                </a:moveTo>
                <a:lnTo>
                  <a:pt x="632678" y="0"/>
                </a:lnTo>
                <a:lnTo>
                  <a:pt x="632678" y="632677"/>
                </a:lnTo>
                <a:lnTo>
                  <a:pt x="0" y="632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0344" y="2498659"/>
            <a:ext cx="7086484" cy="6564067"/>
          </a:xfrm>
          <a:custGeom>
            <a:avLst/>
            <a:gdLst/>
            <a:ahLst/>
            <a:cxnLst/>
            <a:rect r="r" b="b" t="t" l="l"/>
            <a:pathLst>
              <a:path h="6564067" w="7086484">
                <a:moveTo>
                  <a:pt x="0" y="0"/>
                </a:moveTo>
                <a:lnTo>
                  <a:pt x="7086484" y="0"/>
                </a:lnTo>
                <a:lnTo>
                  <a:pt x="7086484" y="6564067"/>
                </a:lnTo>
                <a:lnTo>
                  <a:pt x="0" y="6564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456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75144" y="1555684"/>
            <a:ext cx="828924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-120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Actual vs Predicted Ratings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5144" y="2043473"/>
            <a:ext cx="864434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spc="-13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PREDICTING WHAT</a:t>
            </a:r>
            <a:r>
              <a:rPr lang="en-US" sz="2699" spc="-13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 USERS WILL RATE</a:t>
            </a:r>
          </a:p>
          <a:p>
            <a:pPr algn="l">
              <a:lnSpc>
                <a:spcPts val="32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40344" y="9153525"/>
            <a:ext cx="14708591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spc="-124">
                <a:solidFill>
                  <a:srgbClr val="FFD49B"/>
                </a:solidFill>
                <a:latin typeface="Telegraf"/>
                <a:ea typeface="Telegraf"/>
                <a:cs typeface="Telegraf"/>
                <a:sym typeface="Telegraf"/>
              </a:rPr>
              <a:t>KEY INSIGHT</a:t>
            </a:r>
          </a:p>
          <a:p>
            <a:pPr algn="l">
              <a:lnSpc>
                <a:spcPts val="2879"/>
              </a:lnSpc>
            </a:pPr>
            <a:r>
              <a:rPr lang="en-US" sz="2400" spc="-12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predi</a:t>
            </a:r>
            <a:r>
              <a:rPr lang="en-US" sz="2400" spc="-12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ctions estimate a user's rating for movies they have rated, allowing us to inspect the model's errors.</a:t>
            </a:r>
          </a:p>
          <a:p>
            <a:pPr algn="l">
              <a:lnSpc>
                <a:spcPts val="287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825661"/>
            <a:ext cx="15092792" cy="4570242"/>
          </a:xfrm>
          <a:custGeom>
            <a:avLst/>
            <a:gdLst/>
            <a:ahLst/>
            <a:cxnLst/>
            <a:rect r="r" b="b" t="t" l="l"/>
            <a:pathLst>
              <a:path h="4570242" w="15092792">
                <a:moveTo>
                  <a:pt x="0" y="0"/>
                </a:moveTo>
                <a:lnTo>
                  <a:pt x="15092792" y="0"/>
                </a:lnTo>
                <a:lnTo>
                  <a:pt x="15092792" y="4570242"/>
                </a:lnTo>
                <a:lnTo>
                  <a:pt x="0" y="4570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63599"/>
            <a:ext cx="5315213" cy="615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8"/>
              </a:lnSpc>
            </a:pPr>
            <a:r>
              <a:rPr lang="en-US" sz="4678">
                <a:solidFill>
                  <a:srgbClr val="FFD49B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FROM RATINGS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74276"/>
            <a:ext cx="8058343" cy="615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8"/>
              </a:lnSpc>
            </a:pPr>
            <a:r>
              <a:rPr lang="en-US" sz="4678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TO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07504" y="3544914"/>
            <a:ext cx="6925898" cy="1598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91"/>
              </a:lnSpc>
            </a:pPr>
            <a:r>
              <a:rPr lang="en-US" sz="12091">
                <a:solidFill>
                  <a:srgbClr val="FFD49B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THANK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33402" y="3544914"/>
            <a:ext cx="6925898" cy="1598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91"/>
              </a:lnSpc>
            </a:pPr>
            <a:r>
              <a:rPr lang="en-US" sz="12091">
                <a:solidFill>
                  <a:srgbClr val="FFFFFF"/>
                </a:solidFill>
                <a:latin typeface="Pattanakarn Expanded"/>
                <a:ea typeface="Pattanakarn Expanded"/>
                <a:cs typeface="Pattanakarn Expanded"/>
                <a:sym typeface="Pattanakarn Expanded"/>
              </a:rPr>
              <a:t>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515569" y="5229558"/>
            <a:ext cx="15873527" cy="463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7"/>
              </a:lnSpc>
              <a:spcBef>
                <a:spcPct val="0"/>
              </a:spcBef>
            </a:pPr>
            <a:r>
              <a:rPr lang="en-US" sz="2324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Sushveen Kaur   |   Sowjanya M N  |   Srushti Puranik |   Sujith R Chiknar 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15569" y="5628656"/>
            <a:ext cx="15873527" cy="463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7"/>
              </a:lnSpc>
              <a:spcBef>
                <a:spcPct val="0"/>
              </a:spcBef>
            </a:pPr>
            <a:r>
              <a:rPr lang="en-US" sz="232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PES1UG25AM416</a:t>
            </a:r>
            <a:r>
              <a:rPr lang="en-US" sz="2324" strike="noStrike" u="non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 |   PES1UG25AM402  |   PES1UG25AM408 |   PES1UG25AM412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DAHXnsxKVBk</dc:identifier>
  <dcterms:modified xsi:type="dcterms:W3CDTF">2011-08-01T06:04:30Z</dcterms:modified>
  <cp:revision>1</cp:revision>
  <dc:title>math proj</dc:title>
</cp:coreProperties>
</file>